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4FD8"/>
          </a:solidFill>
          <a:ln w="12700">
            <a:solidFill>
              <a:srgbClr val="1B4F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05840"/>
            <a:ext cx="5303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ReviewSense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11480" y="214884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reviews to real intelligence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11480" y="2788920"/>
            <a:ext cx="1188720" cy="347472"/>
          </a:xfrm>
          <a:prstGeom prst="roundRect">
            <a:avLst>
              <a:gd name="adj" fmla="val 21053"/>
            </a:avLst>
          </a:prstGeom>
          <a:solidFill>
            <a:srgbClr val="1B4FD8"/>
          </a:solidFill>
          <a:ln w="12700">
            <a:solidFill>
              <a:srgbClr val="3B6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278892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DistilBERT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709928" y="2788920"/>
            <a:ext cx="1188720" cy="347472"/>
          </a:xfrm>
          <a:prstGeom prst="roundRect">
            <a:avLst>
              <a:gd name="adj" fmla="val 21053"/>
            </a:avLst>
          </a:prstGeom>
          <a:solidFill>
            <a:srgbClr val="1B4FD8"/>
          </a:solidFill>
          <a:ln w="12700">
            <a:solidFill>
              <a:srgbClr val="3B6E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09928" y="278892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BERTopic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008376" y="2788920"/>
            <a:ext cx="1188720" cy="347472"/>
          </a:xfrm>
          <a:prstGeom prst="roundRect">
            <a:avLst>
              <a:gd name="adj" fmla="val 21053"/>
            </a:avLst>
          </a:prstGeom>
          <a:solidFill>
            <a:srgbClr val="1B4FD8"/>
          </a:solidFill>
          <a:ln w="12700">
            <a:solidFill>
              <a:srgbClr val="3B6E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08376" y="278892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GPT-4o-mini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06824" y="2788920"/>
            <a:ext cx="1188720" cy="347472"/>
          </a:xfrm>
          <a:prstGeom prst="roundRect">
            <a:avLst>
              <a:gd name="adj" fmla="val 21053"/>
            </a:avLst>
          </a:prstGeom>
          <a:solidFill>
            <a:srgbClr val="1B4FD8"/>
          </a:solidFill>
          <a:ln w="12700">
            <a:solidFill>
              <a:srgbClr val="3B6E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06824" y="278892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Streamlit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33832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Project  ·  May 2025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943600" y="502920"/>
            <a:ext cx="2926080" cy="1234440"/>
          </a:xfrm>
          <a:prstGeom prst="rect">
            <a:avLst/>
          </a:prstGeom>
          <a:solidFill>
            <a:srgbClr val="162040"/>
          </a:solidFill>
          <a:ln w="12700">
            <a:solidFill>
              <a:srgbClr val="1B4F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08192" y="850392"/>
            <a:ext cx="411480" cy="41148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6629400" y="66751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Sentiment Analysis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629400" y="106984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83% Accuracy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943600" y="1965960"/>
            <a:ext cx="2926080" cy="1234440"/>
          </a:xfrm>
          <a:prstGeom prst="rect">
            <a:avLst/>
          </a:prstGeom>
          <a:solidFill>
            <a:srgbClr val="162040"/>
          </a:solidFill>
          <a:ln w="12700">
            <a:solidFill>
              <a:srgbClr val="1B4F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8192" y="2313432"/>
            <a:ext cx="411480" cy="41148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6629400" y="213055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Category Clustering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6629400" y="253288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BERTopic + GPT-4o-mini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5943600" y="3429000"/>
            <a:ext cx="2926080" cy="1234440"/>
          </a:xfrm>
          <a:prstGeom prst="rect">
            <a:avLst/>
          </a:prstGeom>
          <a:solidFill>
            <a:srgbClr val="162040"/>
          </a:solidFill>
          <a:ln w="12700">
            <a:solidFill>
              <a:srgbClr val="1B4F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8192" y="3776472"/>
            <a:ext cx="411480" cy="41148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629400" y="359359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Review Summarizer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6629400" y="399592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Map-Reduce Pipeline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Journey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</a:rPr>
              <a:t>Part 1 of 2  ·  From idea to sentiment model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58368" y="1051560"/>
            <a:ext cx="54864" cy="3566160"/>
          </a:xfrm>
          <a:prstGeom prst="rect">
            <a:avLst/>
          </a:prstGeom>
          <a:solidFill>
            <a:srgbClr val="1B4FD8"/>
          </a:solidFill>
          <a:ln w="12700">
            <a:solidFill>
              <a:srgbClr val="1B4F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115568"/>
            <a:ext cx="274320" cy="274320"/>
          </a:xfrm>
          <a:prstGeom prst="ellipse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1005840"/>
            <a:ext cx="77724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1188720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107899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GitHub Repo &amp; Project Plan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645920" y="140817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Created milestones, planned sprints with Claude, structured 3 tasks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2048256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05840" y="1938528"/>
            <a:ext cx="77724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2121408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45920" y="201168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EDA on HuggingFace Dataset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645920" y="23408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Discovered heavy positive skew in ratings — foreshadowed class imbalance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48640" y="2980944"/>
            <a:ext cx="274320" cy="274320"/>
          </a:xfrm>
          <a:prstGeom prst="ellipse">
            <a:avLst/>
          </a:prstGeom>
          <a:solidFill>
            <a:srgbClr val="1B4FD8"/>
          </a:solidFill>
          <a:ln w="12700">
            <a:solidFill>
              <a:srgbClr val="1B4FD8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1005840" y="2871216"/>
            <a:ext cx="77724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3054096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45920" y="294436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First Sentiment Model — 95%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645920" y="327355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DistilBERT on review text only. High accuracy but terrible F1 on Neg &amp; Neu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548640" y="3913632"/>
            <a:ext cx="274320" cy="27432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1005840" y="3803904"/>
            <a:ext cx="77724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3986784"/>
            <a:ext cx="347472" cy="34747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645920" y="387705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Problem: Class Imbalance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1645920" y="42062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Research → 3 options: larger dataset, class weights, or downsampling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Journey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</a:rPr>
              <a:t>Part 2 of 2  ·  From clustering to deployment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58368" y="1051560"/>
            <a:ext cx="54864" cy="35661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115568"/>
            <a:ext cx="274320" cy="2743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1005840"/>
            <a:ext cx="77724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1188720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1078992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Fix: Larger Dataset + Downsampling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645920" y="140817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1.7L reviews, balanced to smallest class → equal Pos/Neu/Neg representation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2048256"/>
            <a:ext cx="274320" cy="274320"/>
          </a:xfrm>
          <a:prstGeom prst="ellipse">
            <a:avLst/>
          </a:prstGeom>
          <a:solidFill>
            <a:srgbClr val="1B4FD8"/>
          </a:solidFill>
          <a:ln w="12700">
            <a:solidFill>
              <a:srgbClr val="1B4FD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05840" y="1938528"/>
            <a:ext cx="77724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2121408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45920" y="201168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Final Sentiment Model — 83%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645920" y="23408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Added review title + text as input. Balanced F1 across all 3 classes ✓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48640" y="2980944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1005840" y="2871216"/>
            <a:ext cx="77724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3054096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45920" y="2944368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BERTopic + K-Means + GPT-4o-mini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645920" y="327355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K-Means alone forced balance. BERTopic put products where they truly belong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548640" y="3913632"/>
            <a:ext cx="274320" cy="2743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1005840" y="3803904"/>
            <a:ext cx="77724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3986784"/>
            <a:ext cx="347472" cy="34747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645920" y="3877056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Summarizer + Streamlit Deploy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1645920" y="42062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Map-reduce GPT pipeline using helpful_vote &amp; verified_purchase weighting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08960" cy="51435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457200"/>
            <a:ext cx="731520" cy="731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" y="132588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Analyzer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37160" y="21945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Task 1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164592" y="2606040"/>
            <a:ext cx="2743200" cy="2194560"/>
          </a:xfrm>
          <a:prstGeom prst="rect">
            <a:avLst/>
          </a:prstGeom>
          <a:solidFill>
            <a:srgbClr val="162040"/>
          </a:solidFill>
          <a:ln w="12700">
            <a:solidFill>
              <a:srgbClr val="1B4FD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28600" y="269748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Model Config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56032" y="306324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Model: distilbert-base-uncased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256032" y="3355848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Labels: 3 (Pos / Neu / Neg)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256032" y="3648456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Input: Title + Review text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56032" y="3941064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Dataset: 1.7L reviews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256032" y="423367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Strategy: Downsampled balanced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291840" y="228600"/>
            <a:ext cx="5577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F3D"/>
                </a:solidFill>
              </a:rPr>
              <a:t>Final Model Performance</a:t>
            </a:r>
            <a:endParaRPr lang="en-US" sz="2000" dirty="0"/>
          </a:p>
        </p:txBody>
      </p:sp>
      <p:pic>
        <p:nvPicPr>
          <p:cNvPr id="14" name="Image 1" descr="/home/claude/CF_3_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658368"/>
            <a:ext cx="5669280" cy="283464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3246120" y="3611880"/>
            <a:ext cx="1298448" cy="1325880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3246120" y="3749040"/>
            <a:ext cx="12984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4FD8"/>
                </a:solidFill>
              </a:rPr>
              <a:t>83%</a:t>
            </a:r>
            <a:endParaRPr lang="en-US" sz="2600" dirty="0"/>
          </a:p>
        </p:txBody>
      </p:sp>
      <p:sp>
        <p:nvSpPr>
          <p:cNvPr id="17" name="Text 13"/>
          <p:cNvSpPr/>
          <p:nvPr/>
        </p:nvSpPr>
        <p:spPr>
          <a:xfrm>
            <a:off x="3246120" y="4279392"/>
            <a:ext cx="1298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Overall Accuracy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4663440" y="3611880"/>
            <a:ext cx="1298448" cy="1325880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4663440" y="3749040"/>
            <a:ext cx="12984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4FD8"/>
                </a:solidFill>
              </a:rPr>
              <a:t>0.75</a:t>
            </a:r>
            <a:endParaRPr lang="en-US" sz="2600" dirty="0"/>
          </a:p>
        </p:txBody>
      </p:sp>
      <p:sp>
        <p:nvSpPr>
          <p:cNvPr id="20" name="Text 16"/>
          <p:cNvSpPr/>
          <p:nvPr/>
        </p:nvSpPr>
        <p:spPr>
          <a:xfrm>
            <a:off x="4663440" y="4279392"/>
            <a:ext cx="1298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Neutral F1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6080760" y="3611880"/>
            <a:ext cx="1298448" cy="1325880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18"/>
          <p:cNvSpPr/>
          <p:nvPr/>
        </p:nvSpPr>
        <p:spPr>
          <a:xfrm>
            <a:off x="6080760" y="3749040"/>
            <a:ext cx="12984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4FD8"/>
                </a:solidFill>
              </a:rPr>
              <a:t>0.82</a:t>
            </a:r>
            <a:endParaRPr lang="en-US" sz="2600" dirty="0"/>
          </a:p>
        </p:txBody>
      </p:sp>
      <p:sp>
        <p:nvSpPr>
          <p:cNvPr id="23" name="Text 19"/>
          <p:cNvSpPr/>
          <p:nvPr/>
        </p:nvSpPr>
        <p:spPr>
          <a:xfrm>
            <a:off x="6080760" y="4279392"/>
            <a:ext cx="1298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Negative F1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7498080" y="3611880"/>
            <a:ext cx="1298448" cy="1325880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1"/>
          <p:cNvSpPr/>
          <p:nvPr/>
        </p:nvSpPr>
        <p:spPr>
          <a:xfrm>
            <a:off x="7498080" y="3749040"/>
            <a:ext cx="12984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4FD8"/>
                </a:solidFill>
              </a:rPr>
              <a:t>0.92</a:t>
            </a:r>
            <a:endParaRPr lang="en-US" sz="2600" dirty="0"/>
          </a:p>
        </p:txBody>
      </p:sp>
      <p:sp>
        <p:nvSpPr>
          <p:cNvPr id="26" name="Text 22"/>
          <p:cNvSpPr/>
          <p:nvPr/>
        </p:nvSpPr>
        <p:spPr>
          <a:xfrm>
            <a:off x="7498080" y="4279392"/>
            <a:ext cx="1298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Positive F1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08960" cy="5143500"/>
          </a:xfrm>
          <a:prstGeom prst="rect">
            <a:avLst/>
          </a:prstGeom>
          <a:solidFill>
            <a:srgbClr val="064E3B"/>
          </a:solidFill>
          <a:ln w="12700">
            <a:solidFill>
              <a:srgbClr val="064E3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457200"/>
            <a:ext cx="731520" cy="731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" y="132588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37160" y="21945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E7B7"/>
                </a:solidFill>
              </a:rPr>
              <a:t>Task 2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164592" y="2606040"/>
            <a:ext cx="2743200" cy="2194560"/>
          </a:xfrm>
          <a:prstGeom prst="rect">
            <a:avLst/>
          </a:prstGeom>
          <a:solidFill>
            <a:srgbClr val="052E1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28600" y="269748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Pipeline Config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56032" y="306324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F3D0"/>
                </a:solidFill>
              </a:rPr>
              <a:t>Embedding: distilbert-nli-stsb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256032" y="3355848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F3D0"/>
                </a:solidFill>
              </a:rPr>
              <a:t>Clustering: BERTopic + K-Means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256032" y="3648456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F3D0"/>
                </a:solidFill>
              </a:rPr>
              <a:t>Naming: GPT-4o-mini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56032" y="3941064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F3D0"/>
                </a:solidFill>
              </a:rPr>
              <a:t>Input: Product name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256032" y="423367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F3D0"/>
                </a:solidFill>
              </a:rPr>
              <a:t>Output: 4-6 meta-categories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291840" y="228600"/>
            <a:ext cx="5577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F3D"/>
                </a:solidFill>
              </a:rPr>
              <a:t>Why BERTopic over standalone K-Means?</a:t>
            </a:r>
            <a:endParaRPr lang="en-US" sz="2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46120" y="731520"/>
          <a:ext cx="5577840" cy="2286000"/>
        </p:xfrm>
        <a:graphic>
          <a:graphicData uri="http://schemas.openxmlformats.org/drawingml/2006/table">
            <a:tbl>
              <a:tblPr/>
              <a:tblGrid>
                <a:gridCol w="1463040"/>
                <a:gridCol w="1920240"/>
                <a:gridCol w="21945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Approach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K-Means Alone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BERTopic + K-Means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Forces equal clusters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Natural groupings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/ TF-IDF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GPT-4o-mini labels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Outliers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Hidden in clusters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Explicit -1 class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Misleading categories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Semantically correct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5" name="Shape 11"/>
          <p:cNvSpPr/>
          <p:nvPr/>
        </p:nvSpPr>
        <p:spPr>
          <a:xfrm>
            <a:off x="3246120" y="3154680"/>
            <a:ext cx="5577840" cy="1691640"/>
          </a:xfrm>
          <a:prstGeom prst="rect">
            <a:avLst/>
          </a:prstGeom>
          <a:solidFill>
            <a:srgbClr val="ECFDF5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3291840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931920" y="33101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F46"/>
                </a:solidFill>
              </a:rPr>
              <a:t>Key Insight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3383280" y="3657600"/>
            <a:ext cx="5303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4E3B"/>
                </a:solidFill>
              </a:rPr>
              <a:t>One category held 70% of products — alarming at first, but cross-checking confirmed it was semantically correct. K-Means was forcing false balance; BERTopic put products where they truly belong.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08960" cy="5143500"/>
          </a:xfrm>
          <a:prstGeom prst="rect">
            <a:avLst/>
          </a:prstGeom>
          <a:solidFill>
            <a:srgbClr val="431407"/>
          </a:solidFill>
          <a:ln w="12700">
            <a:solidFill>
              <a:srgbClr val="431407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457200"/>
            <a:ext cx="731520" cy="731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" y="132588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Summarizer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37160" y="21945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ED7AA"/>
                </a:solidFill>
              </a:rPr>
              <a:t>Task 3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164592" y="2606040"/>
            <a:ext cx="2743200" cy="2194560"/>
          </a:xfrm>
          <a:prstGeom prst="rect">
            <a:avLst/>
          </a:prstGeom>
          <a:solidFill>
            <a:srgbClr val="2C0A03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28600" y="269748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Pipeline Config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56032" y="306324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ED7AA"/>
                </a:solidFill>
              </a:rPr>
              <a:t>LLM: GPT-4o-mini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256032" y="3355848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ED7AA"/>
                </a:solidFill>
              </a:rPr>
              <a:t>Strategy: Curate → Summarize → Article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256032" y="3648456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ED7AA"/>
                </a:solidFill>
              </a:rPr>
              <a:t>Weighting: helpful_vote +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56032" y="3941064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ED7AA"/>
                </a:solidFill>
              </a:rPr>
              <a:t>  verified_purchase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256032" y="423367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ED7AA"/>
                </a:solidFill>
              </a:rPr>
              <a:t>Balanced: 8 reviews / star rating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291840" y="228600"/>
            <a:ext cx="5577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F3D"/>
                </a:solidFill>
              </a:rPr>
              <a:t>3-Step Generation Pipeline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3291840" y="749808"/>
            <a:ext cx="1737360" cy="1572768"/>
          </a:xfrm>
          <a:prstGeom prst="rect">
            <a:avLst/>
          </a:prstGeom>
          <a:solidFill>
            <a:srgbClr val="FFF7ED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904488" y="77724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904488" y="777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3291840" y="1353312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2400E"/>
                </a:solidFill>
              </a:rPr>
              <a:t>Curate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3383280" y="1682496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8 reviews per star (1–5)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Verified + helpful first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Rating prefix per review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029200" y="1508760"/>
            <a:ext cx="18288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212080" y="749808"/>
            <a:ext cx="1737360" cy="1572768"/>
          </a:xfrm>
          <a:prstGeom prst="rect">
            <a:avLst/>
          </a:prstGeom>
          <a:solidFill>
            <a:srgbClr val="FFF7ED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824728" y="77724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824728" y="777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212080" y="1353312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2400E"/>
                </a:solidFill>
              </a:rPr>
              <a:t>Summarize Product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5303520" y="1682496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GPT call per product →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Sentiment, Top 3 Pros,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Top 3 Cons, Best For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6949440" y="1508760"/>
            <a:ext cx="18288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132320" y="749808"/>
            <a:ext cx="1737360" cy="1572768"/>
          </a:xfrm>
          <a:prstGeom prst="rect">
            <a:avLst/>
          </a:prstGeom>
          <a:solidFill>
            <a:srgbClr val="FFF7ED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7744968" y="77724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744968" y="777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7132320" y="1353312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2400E"/>
                </a:solidFill>
              </a:rPr>
              <a:t>Write Article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7223760" y="1682496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Top 10 summaries → GPT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writes full 'Best of'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article + Winner + Guide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3291840" y="2487168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F3D"/>
                </a:solidFill>
              </a:rPr>
              <a:t>Article Output Structure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3337560" y="2852928"/>
            <a:ext cx="539496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Top 10 products in the category ranked by rating &amp; volume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Per-product: Overall Sentiment · Top 3 Pros · Top 3 Cons · Best For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Category Winner — the single best pick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Buying Guide — how to choose between products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</a:rPr>
              <a:t>Streamlit — Amazon-style product review showcase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2834640" cy="1783080"/>
          </a:xfrm>
          <a:prstGeom prst="rect">
            <a:avLst/>
          </a:prstGeom>
          <a:solidFill>
            <a:srgbClr val="162040"/>
          </a:solidFill>
          <a:ln w="12700">
            <a:solidFill>
              <a:srgbClr val="1B4F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97280"/>
            <a:ext cx="2834640" cy="64008"/>
          </a:xfrm>
          <a:prstGeom prst="rect">
            <a:avLst/>
          </a:prstGeom>
          <a:solidFill>
            <a:srgbClr val="1B4FD8"/>
          </a:solidFill>
          <a:ln w="12700">
            <a:solidFill>
              <a:srgbClr val="1B4F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6187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🏠 Home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664208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Project overview, pipeline diagram, dataset stats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1097280"/>
            <a:ext cx="2834640" cy="1783080"/>
          </a:xfrm>
          <a:prstGeom prst="rect">
            <a:avLst/>
          </a:prstGeom>
          <a:solidFill>
            <a:srgbClr val="16204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91840" y="1097280"/>
            <a:ext cx="283464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126187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🔍 Sentiment Analyzer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29000" y="1664208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Paste any review → live DistilBERT prediction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63640" y="1097280"/>
            <a:ext cx="2834640" cy="1783080"/>
          </a:xfrm>
          <a:prstGeom prst="rect">
            <a:avLst/>
          </a:prstGeom>
          <a:solidFill>
            <a:srgbClr val="162040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63640" y="1097280"/>
            <a:ext cx="283464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126187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🗂️ Categories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0" y="1664208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Grid of BERTopic meta-categories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737360" y="3063240"/>
            <a:ext cx="2834640" cy="1783080"/>
          </a:xfrm>
          <a:prstGeom prst="rect">
            <a:avLst/>
          </a:prstGeom>
          <a:solidFill>
            <a:srgbClr val="162040"/>
          </a:solidFill>
          <a:ln w="12700">
            <a:solidFill>
              <a:srgbClr val="0369A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737360" y="3063240"/>
            <a:ext cx="2834640" cy="6400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74520" y="322783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🛍️ Product Page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874520" y="3630168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Amazon-style: images, ratings, paginated reviews,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sentiment badges, live GPT-4o-mini summary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9160" y="3063240"/>
            <a:ext cx="2834640" cy="1783080"/>
          </a:xfrm>
          <a:prstGeom prst="rect">
            <a:avLst/>
          </a:prstGeom>
          <a:solidFill>
            <a:srgbClr val="162040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3063240"/>
            <a:ext cx="283464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322783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📰 Buying Guide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46320" y="3630168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AI-generated articles rendered per category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 &amp; Challenges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20040" y="804672"/>
            <a:ext cx="4069080" cy="384048"/>
          </a:xfrm>
          <a:prstGeom prst="rect">
            <a:avLst/>
          </a:prstGeom>
          <a:solidFill>
            <a:srgbClr val="1B4FD8"/>
          </a:solidFill>
          <a:ln w="12700">
            <a:solidFill>
              <a:srgbClr val="1B4F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804672"/>
            <a:ext cx="4069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Key Takeaways</a:t>
            </a:r>
            <a:endParaRPr lang="en-US" sz="13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371600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04672" y="1325880"/>
            <a:ext cx="3520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Class imbalance kills model quality — fix the data before tuning the model</a:t>
            </a:r>
            <a:endParaRPr lang="en-US" sz="11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057400"/>
            <a:ext cx="292608" cy="29260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04672" y="2011680"/>
            <a:ext cx="3520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BERTopic semantics &gt; K-Means geometry for product categorization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2743200"/>
            <a:ext cx="292608" cy="29260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4672" y="2697480"/>
            <a:ext cx="3520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Adding review title to DistilBERT input gave a meaningful accuracy jump</a:t>
            </a:r>
            <a:endParaRPr lang="en-US" sz="11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3429000"/>
            <a:ext cx="292608" cy="29260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04672" y="3383280"/>
            <a:ext cx="3520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helpful_vote + verified_purchase weighting improves LLM summary quality</a:t>
            </a:r>
            <a:endParaRPr lang="en-US" sz="11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" y="4114800"/>
            <a:ext cx="292608" cy="29260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804672" y="4069080"/>
            <a:ext cx="3520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Per-product summaries then a single article call gives better structure than end-to-end generation</a:t>
            </a:r>
            <a:endParaRPr lang="en-US" sz="1100" dirty="0"/>
          </a:p>
        </p:txBody>
      </p:sp>
      <p:sp>
        <p:nvSpPr>
          <p:cNvPr id="15" name="Shape 8"/>
          <p:cNvSpPr/>
          <p:nvPr/>
        </p:nvSpPr>
        <p:spPr>
          <a:xfrm>
            <a:off x="4709160" y="804672"/>
            <a:ext cx="4069080" cy="384048"/>
          </a:xfrm>
          <a:prstGeom prst="rect">
            <a:avLst/>
          </a:prstGeom>
          <a:solidFill>
            <a:srgbClr val="7C2D12"/>
          </a:solidFill>
          <a:ln w="12700">
            <a:solidFill>
              <a:srgbClr val="7C2D12"/>
            </a:solidFill>
            <a:prstDash val="solid"/>
          </a:ln>
        </p:spPr>
      </p:sp>
      <p:sp>
        <p:nvSpPr>
          <p:cNvPr id="16" name="Text 9"/>
          <p:cNvSpPr/>
          <p:nvPr/>
        </p:nvSpPr>
        <p:spPr>
          <a:xfrm>
            <a:off x="4709160" y="804672"/>
            <a:ext cx="4069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Challenges Faced</a:t>
            </a:r>
            <a:endParaRPr lang="en-US" sz="130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73168" y="1371600"/>
            <a:ext cx="292608" cy="292608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5193792" y="1325880"/>
            <a:ext cx="3520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First model at 95% acc but poor F1 — deceptively good number</a:t>
            </a:r>
            <a:endParaRPr lang="en-US" sz="1100" dirty="0"/>
          </a:p>
        </p:txBody>
      </p:sp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73168" y="2057400"/>
            <a:ext cx="292608" cy="292608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5193792" y="2011680"/>
            <a:ext cx="3520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K-Means clustering gave same top words across all clusters — pivot to BERTopic</a:t>
            </a:r>
            <a:endParaRPr lang="en-US" sz="1100" dirty="0"/>
          </a:p>
        </p:txBody>
      </p:sp>
      <p:pic>
        <p:nvPicPr>
          <p:cNvPr id="2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73168" y="2743200"/>
            <a:ext cx="292608" cy="292608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5193792" y="2697480"/>
            <a:ext cx="3520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BERTopic with default settings put 70%+ products in outlier class (-1)</a:t>
            </a:r>
            <a:endParaRPr lang="en-US" sz="1100" dirty="0"/>
          </a:p>
        </p:txBody>
      </p:sp>
      <p:pic>
        <p:nvPicPr>
          <p:cNvPr id="2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73168" y="3429000"/>
            <a:ext cx="292608" cy="292608"/>
          </a:xfrm>
          <a:prstGeom prst="rect">
            <a:avLst/>
          </a:prstGeom>
        </p:spPr>
      </p:pic>
      <p:sp>
        <p:nvSpPr>
          <p:cNvPr id="24" name="Text 13"/>
          <p:cNvSpPr/>
          <p:nvPr/>
        </p:nvSpPr>
        <p:spPr>
          <a:xfrm>
            <a:off x="5193792" y="3383280"/>
            <a:ext cx="3520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Category noise — 'Nail Art' contained sticker labels, 'Skincare' contained toothbrushes</a:t>
            </a:r>
            <a:endParaRPr lang="en-US" sz="1100" dirty="0"/>
          </a:p>
        </p:txBody>
      </p:sp>
      <p:pic>
        <p:nvPicPr>
          <p:cNvPr id="2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73168" y="4114800"/>
            <a:ext cx="292608" cy="292608"/>
          </a:xfrm>
          <a:prstGeom prst="rect">
            <a:avLst/>
          </a:prstGeom>
        </p:spPr>
      </p:pic>
      <p:sp>
        <p:nvSpPr>
          <p:cNvPr id="26" name="Text 14"/>
          <p:cNvSpPr/>
          <p:nvPr/>
        </p:nvSpPr>
        <p:spPr>
          <a:xfrm>
            <a:off x="5193792" y="4069080"/>
            <a:ext cx="3520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Streamlit session state navigation + Amazon image URL quote escaping in HTML</a:t>
            </a:r>
            <a:endParaRPr lang="en-US" sz="1100" dirty="0"/>
          </a:p>
        </p:txBody>
      </p:sp>
      <p:sp>
        <p:nvSpPr>
          <p:cNvPr id="27" name="Shape 15"/>
          <p:cNvSpPr/>
          <p:nvPr/>
        </p:nvSpPr>
        <p:spPr>
          <a:xfrm>
            <a:off x="320040" y="4663440"/>
            <a:ext cx="8458200" cy="347472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pic>
        <p:nvPicPr>
          <p:cNvPr id="2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7200" y="4700016"/>
            <a:ext cx="256032" cy="256032"/>
          </a:xfrm>
          <a:prstGeom prst="rect">
            <a:avLst/>
          </a:prstGeom>
        </p:spPr>
      </p:pic>
      <p:sp>
        <p:nvSpPr>
          <p:cNvPr id="29" name="Text 16"/>
          <p:cNvSpPr/>
          <p:nvPr/>
        </p:nvSpPr>
        <p:spPr>
          <a:xfrm>
            <a:off x="804672" y="4681728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D8"/>
                </a:solidFill>
              </a:rPr>
              <a:t>Next Step: Generalise into a pipeline that accepts any McAuley Amazon dataset and produces results automatically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2026-05-09T20:46:37Z</dcterms:created>
  <dcterms:modified xsi:type="dcterms:W3CDTF">2026-05-09T20:46:37Z</dcterms:modified>
</cp:coreProperties>
</file>